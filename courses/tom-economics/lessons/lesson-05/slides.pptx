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5 · SYLLABUS 2.7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 Elasticity of Supply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can react faster to a price change — buyers, or sellers?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 demand: price &amp; revenue move together.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 demand: price &amp; revenue move opposite.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already know this cold — today's about the seller's side instead.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Warm-up: Tom's Print Co keychain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$4 → $5  (+25%)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80 → 60 per week  (−25%)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🔑 Keychain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+25%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= −25%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 = −25 ÷ 25 = −1 → Unitary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Warm-up: padel kids' coaching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PED + TR practice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$15 → $18  (+20%)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Quantity: 40 → 36 sessions/week  (−10%)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Kids' coaching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 = −10 ÷ 20 = −0.5 (inelastic)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$15 × 40 = $600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$18 × 36 = $648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Revenue ROSE — inelastic + price rise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 can react faster?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padel club wants more courts this summer because demand is booming.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 wants to make more grips this week because a big order just came in.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one can actually ramp up supply faster — and why?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Definition &amp; formula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645920"/>
            <a:ext cx="9601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measures how responsive quantity supplied is to a change in price.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651760" y="2468880"/>
            <a:ext cx="6858000" cy="1188720"/>
          </a:xfrm>
          <a:prstGeom prst="roundRect">
            <a:avLst>
              <a:gd name="adj" fmla="val 10769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2651760" y="2468880"/>
            <a:ext cx="6858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%ΔQs ÷ %ΔP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931920"/>
            <a:ext cx="9601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Unlike PED, PES is almost always positive — the law of supply says price and quantity supplied move in the same direction, so there's no minus sign to ignore this time.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🖨️ Worked example: Tom's grips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order surge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$8 → $10  (+25%)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60 → 90 grips/week  (+50%)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50 ÷ 25 = 2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this summer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court hire +20%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new courts before autumn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🎾 Padel courts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+20%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20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+10%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+30% (spare printer capacity)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🧩 Custom Lego accessories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+10%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+30%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30 ÷ 10 = 3 → Elastic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527048" cy="365760"/>
          </a:xfrm>
          <a:prstGeom prst="roundRect">
            <a:avLst>
              <a:gd name="adj" fmla="val 50000"/>
            </a:avLst>
          </a:prstGeom>
          <a:solidFill>
            <a:srgbClr val="F96167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5270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Your turn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(resale)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 — work it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Price: +50%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 supplied: fixed — no more will ever be made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3840480" y="434340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0" y="397764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before = $____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709160"/>
            <a:ext cx="1828800" cy="0"/>
          </a:xfrm>
          <a:prstGeom prst="line">
            <a:avLst/>
          </a:prstGeom>
          <a:noFill/>
          <a:ln w="19050">
            <a:solidFill>
              <a:srgbClr val="5B5B5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0480" y="4343400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 after = $____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02920"/>
            <a:ext cx="1325880" cy="365760"/>
          </a:xfrm>
          <a:prstGeom prst="roundRect">
            <a:avLst>
              <a:gd name="adj" fmla="val 50000"/>
            </a:avLst>
          </a:prstGeom>
          <a:solidFill>
            <a:srgbClr val="1BAF7A">
              <a:alpha val="18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02920"/>
            <a:ext cx="1325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AF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Revealed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🕹️ Retired Lego set — answer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566160" y="1920240"/>
            <a:ext cx="5029200" cy="3108960"/>
          </a:xfrm>
          <a:prstGeom prst="roundRect">
            <a:avLst>
              <a:gd name="adj" fmla="val 4118"/>
            </a:avLst>
          </a:prstGeom>
          <a:solidFill>
            <a:srgbClr val="F4F5F7"/>
          </a:solidFill>
          <a:ln/>
        </p:spPr>
      </p:sp>
      <p:sp>
        <p:nvSpPr>
          <p:cNvPr id="6" name="Text 4"/>
          <p:cNvSpPr/>
          <p:nvPr/>
        </p:nvSpPr>
        <p:spPr>
          <a:xfrm>
            <a:off x="3840480" y="219456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answer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840480" y="2651760"/>
            <a:ext cx="44805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price = +50%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change in quantity supplied = 0%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840480" y="420624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 = 0 ÷ 50 = 0 → Perfectly inelastic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PES spectrum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29387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29387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71116" y="2244852"/>
            <a:ext cx="0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1955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inelastic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1955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0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0555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0555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3802990" y="2244852"/>
            <a:ext cx="559613" cy="1088136"/>
          </a:xfrm>
          <a:prstGeom prst="line">
            <a:avLst/>
          </a:prstGeom>
          <a:noFill/>
          <a:ln w="3175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03123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Inelastic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03123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&lt; PES &lt; 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31723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1723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5550408" y="2244852"/>
            <a:ext cx="1088136" cy="1088136"/>
          </a:xfrm>
          <a:prstGeom prst="line">
            <a:avLst/>
          </a:prstGeom>
          <a:noFill/>
          <a:ln w="317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4291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Unitary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4291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1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2891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2891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562088" y="2555748"/>
            <a:ext cx="1088136" cy="466344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5459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05459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&gt; 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9340596" y="2011680"/>
            <a:ext cx="0" cy="155448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340596" y="3566160"/>
            <a:ext cx="155448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573768" y="2788920"/>
            <a:ext cx="1088136" cy="0"/>
          </a:xfrm>
          <a:prstGeom prst="line">
            <a:avLst/>
          </a:prstGeom>
          <a:noFill/>
          <a:ln w="31750">
            <a:solidFill>
              <a:srgbClr val="1BAF7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066276" y="37033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Perfectly elastic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066276" y="402336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5B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∞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(1/2)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 capacity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Unused machinery/staff time = more elastic. Tom's idle second printer can start immediately.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 mobility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for labour/capital to switch tasks = more elastic. Hard-to-retrain specialist staff = more inelastic.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period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elastic in the long run — more time to build capacity, hire staff, or build new courts.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Determinants of PES (2/2)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7909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4" name="Text 2"/>
          <p:cNvSpPr/>
          <p:nvPr/>
        </p:nvSpPr>
        <p:spPr>
          <a:xfrm>
            <a:off x="10652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Ability to store stock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0652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Goods that can be stockpiled and released later = more elastic. A padel lesson (a service) can't be stored — more inelastic.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4485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7" name="Text 5"/>
          <p:cNvSpPr/>
          <p:nvPr/>
        </p:nvSpPr>
        <p:spPr>
          <a:xfrm>
            <a:off x="47228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period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228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to make = more elastic (a grip prints in minutes). Slow to make = more inelastic (a new court takes months).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06156" y="1828800"/>
            <a:ext cx="3291840" cy="3108960"/>
          </a:xfrm>
          <a:prstGeom prst="roundRect">
            <a:avLst>
              <a:gd name="adj" fmla="val 3529"/>
            </a:avLst>
          </a:prstGeom>
          <a:solidFill>
            <a:srgbClr val="F4F5F7"/>
          </a:solidFill>
          <a:ln/>
        </p:spPr>
      </p:sp>
      <p:sp>
        <p:nvSpPr>
          <p:cNvPr id="10" name="Text 8"/>
          <p:cNvSpPr/>
          <p:nvPr/>
        </p:nvSpPr>
        <p:spPr>
          <a:xfrm>
            <a:off x="8380476" y="2103120"/>
            <a:ext cx="2743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producers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380476" y="2697480"/>
            <a:ext cx="27432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producers able to enter the market = more elastic supply, especially in the long run.</a:t>
            </a:r>
            <a:endParaRPr lang="en-US" sz="12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Quick check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padel club can't add courts this season no matter the price. What's its PES this season?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makes Tom's grip supply MORE elastic: running at full capacity, or having a spare idle printer?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822960" y="1828800"/>
            <a:ext cx="987552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 = %ΔQs ÷ %ΔP — almost always positive.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→ perfectly inelastic  ·  0–1 → inelastic  ·  1 → unitary  ·  &gt;1 → elastic  ·  ∞ → perfectly elastic</a:t>
            </a:r>
            <a:endParaRPr lang="en-US" sz="1800" dirty="0"/>
          </a:p>
          <a:p>
            <a:pPr indent="0" marL="0">
              <a:lnSpc>
                <a:spcPct val="130000"/>
              </a:lnSpc>
              <a:spcAft>
                <a:spcPts val="1400"/>
              </a:spcAft>
              <a:buNone/>
            </a:pPr>
            <a:r>
              <a:rPr lang="en-US" sz="18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Determinants: spare capacity, factor mobility, time period, ability to store stock, production period, number of producers.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1031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LESSON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market economic system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640080" y="3931920"/>
            <a:ext cx="9601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Zooming out from single markets to a whole economy — how does a market system decide what gets made, with nobody in charge?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2026-08-27T21:35:34Z</dcterms:created>
  <dcterms:modified xsi:type="dcterms:W3CDTF">2026-08-27T21:35:34Z</dcterms:modified>
</cp:coreProperties>
</file>