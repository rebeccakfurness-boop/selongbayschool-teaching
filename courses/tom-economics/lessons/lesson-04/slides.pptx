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 · SYLLABUS 2.6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PED: Revenue &amp; Significance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Tom raises his prices, does he end up richer — or poorer?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1E2761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Quick fix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vs. free goods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notes had land down as a free good. What's the actual difference between land as a factor of production, and a free good?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1E2761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Quick fix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Causes vs. consequences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875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lesson, a shortage/surplus got named as the cause of a price change. What actually causes a price to change in a market?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PED refresher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651760" y="1645920"/>
            <a:ext cx="6858000" cy="1188720"/>
          </a:xfrm>
          <a:prstGeom prst="roundRect">
            <a:avLst>
              <a:gd name="adj" fmla="val 1076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651760" y="164592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 = %ΔQd ÷ %ΔP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&lt; 1 = inelastic. Size &gt; 1 = elastic. Size = 1 = unitary. Let's get a few reps in before we look at revenue.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Practice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Racket restring service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calculate the PED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$15 → $18  (+20%)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50 → 45 per week  (−10%)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 = −10 ÷ 20 = −0.5 → Inelastic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Practice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🏓 Limited-edition padel paddle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calculate the PED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$150 → $165  (+10%)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20 → 18 sold  (−10%)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 = −10 ÷ 10 = −1 → Unitary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26464" cy="365760"/>
          </a:xfrm>
          <a:prstGeom prst="roundRect">
            <a:avLst>
              <a:gd name="adj" fmla="val 50000"/>
            </a:avLst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264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Practice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 Generic Lego minifigure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calculate the PED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$5 → $6  (+20%)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100 → 70 sold  (−30%)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 = −30 ÷ 20 = −1.5 → Elastic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real question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puts up the price of his padel grips.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money per grip sold... but does he end up with more total money?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— and tell me why.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revenue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651760" y="1645920"/>
            <a:ext cx="6858000" cy="1188720"/>
          </a:xfrm>
          <a:prstGeom prst="roundRect">
            <a:avLst>
              <a:gd name="adj" fmla="val 10769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2651760" y="164592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 = P × Q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change moves P. But it also moves Q, because of PED. Those two moves can fight each other — that's the whole lesson.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28216" cy="365760"/>
          </a:xfrm>
          <a:prstGeom prst="roundRect">
            <a:avLst>
              <a:gd name="adj" fmla="val 50000"/>
            </a:avLst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Guess first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Padel bookings (elastic)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before you check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$20 → $22  (+10%)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100 → 80 bookings/week  (−20%)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 = −2 (elastic)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Revenue: up, down, or the same?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BAF7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Revealed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🎾 Padel bookings — answer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before = $20 × 100 = $2000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after = $22 × 80 = $1760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FELL, despite the price rise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28216" cy="365760"/>
          </a:xfrm>
          <a:prstGeom prst="roundRect">
            <a:avLst>
              <a:gd name="adj" fmla="val 50000"/>
            </a:avLst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🤔 Guess first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Retired Lego set (inelastic)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before you check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$50 → $55  (+10%)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40 → 38 sets/month  (−5%)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 = −0.5 (inelastic)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Revenue: up, down, or the same?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BAF7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Revealed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Retired Lego set — answer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before = $50 × 40 = $2000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after = $55 × 38 = $2090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ROSE this time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F96167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527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Your turn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Tom's padel grips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 — work it out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$8 → $10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Quantity: 60 → 54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(PED = −0.4, from last lesson)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0" y="434340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9776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before = $____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840480" y="4709160"/>
            <a:ext cx="1828800" cy="0"/>
          </a:xfrm>
          <a:prstGeom prst="line">
            <a:avLst/>
          </a:prstGeom>
          <a:noFill/>
          <a:ln w="19050">
            <a:solidFill>
              <a:srgbClr val="5B5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4343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after = $____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1BAF7A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Revealed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Tom's grips — answer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1920240"/>
            <a:ext cx="5029200" cy="3108960"/>
          </a:xfrm>
          <a:prstGeom prst="roundRect">
            <a:avLst>
              <a:gd name="adj" fmla="val 4118"/>
            </a:avLst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0" y="21945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265176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before = $8 × 60 = $480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after = $10 × 54 = $540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0" y="42062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rose — inelastic, again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182880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rises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falls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Inelastic (&lt;1)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rises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falls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(&gt;1)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falls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rises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Unitary (=1)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change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909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4" name="Text 2"/>
          <p:cNvSpPr/>
          <p:nvPr/>
        </p:nvSpPr>
        <p:spPr>
          <a:xfrm>
            <a:off x="10652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52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PED to set prices for maximum revenue — raise prices on inelastic products, avoid raising (or cut) prices on elastic ones.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485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7" name="Text 5"/>
          <p:cNvSpPr/>
          <p:nvPr/>
        </p:nvSpPr>
        <p:spPr>
          <a:xfrm>
            <a:off x="47228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228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Inelastic necessities hurt household budgets most when prices rise — you can't easily cut back.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06156" y="182880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/>
        </p:spPr>
      </p:sp>
      <p:sp>
        <p:nvSpPr>
          <p:cNvPr id="10" name="Text 8"/>
          <p:cNvSpPr/>
          <p:nvPr/>
        </p:nvSpPr>
        <p:spPr>
          <a:xfrm>
            <a:off x="8380476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0476" y="269748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 work best on inelastic goods (fuel, cigarettes) — quantity barely falls, so tax revenue stays high and reliable.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check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firm's product has PED = −3. It's considering a price rise. Good idea or bad idea?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firm's product has PED = −0.2. Same question.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9875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 = P × Q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Inelastic demand: price &amp; revenue move together.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demand: price &amp; revenue move opposite.</a:t>
            </a:r>
            <a:endParaRPr lang="en-US" sz="1800" dirty="0"/>
          </a:p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why PED matters to firms' pricing, consumers' budgets, and government tax choices.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elasticity of supply (PES)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9319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structure, new letter — how responsive is quantity supplied to a price change?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2026-09-14T07:02:13Z</dcterms:created>
  <dcterms:modified xsi:type="dcterms:W3CDTF">2026-09-14T07:02:13Z</dcterms:modified>
</cp:coreProperties>
</file>